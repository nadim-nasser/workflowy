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201168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0" y="20574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Workflowy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4748B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6" name="Oval 5"/>
          <p:cNvSpPr/>
          <p:nvPr/>
        </p:nvSpPr>
        <p:spPr>
          <a:xfrm>
            <a:off x="6766560" y="2194560"/>
            <a:ext cx="164592" cy="164592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103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Deloitte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  <a:latin typeface="Arial"/>
              </a:defRPr>
            </a:pPr>
            <a:r>
              <a:t>EXECUTIVE AI ENABLEMENT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Enable Your Existing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Half-Day Intensive for Deloitte Leaders.</a:t>
            </a:r>
            <a:br/>
            <a:r>
              <a:t>Transform how your executives use, direct, manage, and evaluate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7772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5321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486400"/>
            <a:ext cx="7772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55321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Direct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5486400"/>
            <a:ext cx="7772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55321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Manage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5486400"/>
            <a:ext cx="7772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55321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486400"/>
            <a:ext cx="7772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55321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Evaluate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You have the tools. Teams aren't using them to full potential.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2286000"/>
            <a:ext cx="457200" cy="457200"/>
          </a:xfrm>
          <a:prstGeom prst="ellipse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Tool Overwhelm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rial"/>
              </a:defRPr>
            </a:pPr>
            <a:r>
              <a:t>ChatGPT, Claude, Copilot, Gemini.</a:t>
            </a:r>
            <a:br/>
            <a:r>
              <a:t>Each with 10+ features. Too much, too fast.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286000"/>
            <a:ext cx="457200" cy="45720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Licenses Underutilized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rial"/>
              </a:defRPr>
            </a:pPr>
            <a:r>
              <a:t>Organizations invest in AI licenses</a:t>
            </a:r>
            <a:br/>
            <a:r>
              <a:t>that go underutilized. Teams use</a:t>
            </a:r>
            <a:br/>
            <a:r>
              <a:t>them for basic chat at best.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2286000"/>
            <a:ext cx="457200" cy="4572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Signal vs.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rial"/>
              </a:defRPr>
            </a:pPr>
            <a:r>
              <a:t>GPT-4, Claude 3.5, Cowork, Deep</a:t>
            </a:r>
            <a:br/>
            <a:r>
              <a:t>Research, Agents... What matters</a:t>
            </a:r>
            <a:br/>
            <a:r>
              <a:t>for MY job?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10698480" cy="1188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rial"/>
              </a:defRPr>
            </a:pPr>
            <a:r>
              <a:t>of AI success is people,</a:t>
            </a:r>
            <a:br/>
            <a:r>
              <a:t>process &amp; 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333EA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rial"/>
              </a:defRPr>
            </a:pPr>
            <a:r>
              <a:t>of audit, tax &amp; advisory roles</a:t>
            </a:r>
            <a:br/>
            <a:r>
              <a:t>automatable in 3-5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rial"/>
              </a:defRPr>
            </a:pPr>
            <a:r>
              <a:t>higher adoption when</a:t>
            </a:r>
            <a:br/>
            <a:r>
              <a:t>training provided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5486400"/>
            <a:ext cx="128016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5559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Copilot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5486400"/>
            <a:ext cx="128016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559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Copilot 365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486400"/>
            <a:ext cx="128016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559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Copilot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THE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Five Pillars of AI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AI isn't just a tool. It's a thinking partner. Leaders must master all five.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2057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2468880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Arial"/>
              </a:defRPr>
            </a:pPr>
            <a:r>
              <a:t>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Apply AI to</a:t>
            </a:r>
            <a:br/>
            <a:r>
              <a:t>real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286000"/>
            <a:ext cx="2057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2468880"/>
            <a:ext cx="50292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Arial"/>
              </a:defRPr>
            </a:pPr>
            <a: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474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Prompt &amp; guide</a:t>
            </a:r>
            <a:br/>
            <a:r>
              <a:t>AI effectively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286000"/>
            <a:ext cx="2057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2468880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474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Oversee AI-driven</a:t>
            </a:r>
            <a:br/>
            <a:r>
              <a:t>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286000"/>
            <a:ext cx="2057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2468880"/>
            <a:ext cx="5029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474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Ensure compliance</a:t>
            </a:r>
            <a:br/>
            <a:r>
              <a:t>&amp; 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286000"/>
            <a:ext cx="2057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69880" y="2468880"/>
            <a:ext cx="502920" cy="502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7185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474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Measure &amp; optimize</a:t>
            </a:r>
            <a:br/>
            <a:r>
              <a:t>outcomes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53949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Mindset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From "AI as search" to "AI as assistant"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57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Clear AI capabilities vs. 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Confidence with clients and teams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297680"/>
            <a:ext cx="53949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Tangible Deliverables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Pre/post skill progression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5257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Working AI solution built in session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✓  Role-specific prompt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We enable your existing tools.</a:t>
            </a:r>
            <a:br/>
            <a:r>
              <a:t>No new vendors. No security reviews.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BD5E1"/>
                </a:solidFill>
                <a:latin typeface="Arial"/>
              </a:defRPr>
            </a:pPr>
            <a:r>
              <a:t>Workflowy is an enablement tool for your existing platforms. We help your people learn what's possible, then map their workflows to actually use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39496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83464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rial"/>
              </a:defRPr>
            </a:pPr>
            <a:r>
              <a:t>Demystify the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"Did You Know?" Show the art of the possible with Microsoft Copilot.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Copilot 365 in Word, Excel, PowerPoint,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Copilot Studio for building custom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Better prompting &amp; reasoning for real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651760"/>
            <a:ext cx="539496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79" y="2834640"/>
            <a:ext cx="411480" cy="4114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  <a:latin typeface="Arial"/>
              </a:defRPr>
            </a:pPr>
            <a:r>
              <a:t>Map Your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rial"/>
              </a:defRPr>
            </a:pPr>
            <a:r>
              <a:t>Bridge from inspiration to integration. Connect tools to YOUR actual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Identify repetitive workflows in your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Map which AI tools fit each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rial"/>
              </a:defRPr>
            </a:pPr>
            <a:r>
              <a:t>✓  Build proof of concept in your environment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YOUR MICROSOFT COPILOT ECOSYSTEM. NO NEW VENDORS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897880"/>
            <a:ext cx="13716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925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Copilot 365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5897880"/>
            <a:ext cx="137160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5925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Copilot Studio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897880"/>
            <a:ext cx="1371600" cy="3200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5925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Gen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PROPOSED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Half-Day Executive AI Intensive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A focused, hands-on session designed to shift your leaders from curious to capable across all five pillars.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46888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Assess &amp;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Pre-session readiness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Individual skill baselining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Gap &amp; opportunity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2860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2468880"/>
            <a:ext cx="365760" cy="3657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Custom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Role specific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Your approved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Hands on building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2860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2468880"/>
            <a:ext cx="36576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Measure &amp;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Post-session skill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Champion identification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• ROI reporting &amp; scale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89120"/>
            <a:ext cx="5394960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20 Participants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Service line leaders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4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Half-day intensive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Custom Curriculum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Your tech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Live Builds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 something real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389120"/>
            <a:ext cx="50292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TRAINING ON YOUR MICROSOFT COPILOT ECOSYSTEM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029200"/>
            <a:ext cx="13716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056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Copilot 365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5029200"/>
            <a:ext cx="137160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056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Copilot Studio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5029200"/>
            <a:ext cx="1371600" cy="3200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5056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Gen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TRAINING CURRICULUM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Half-Day Training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rial"/>
              </a:defRPr>
            </a:pPr>
            <a:r>
              <a:t>Inspire first, then operationalize within your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21031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32004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Arial"/>
              </a:defRPr>
            </a:pPr>
            <a:r>
              <a:t>Art of the 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Unrestricted demo on</a:t>
            </a:r>
            <a:br/>
            <a:r>
              <a:t>Workflowy laptops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084FC"/>
                </a:solidFill>
                <a:latin typeface="Arial"/>
              </a:defRPr>
            </a:pPr>
            <a: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084FC"/>
                </a:solidFill>
                <a:latin typeface="Arial"/>
              </a:defRPr>
            </a:pPr>
            <a:r>
              <a:t>Replit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084FC"/>
                </a:solidFill>
                <a:latin typeface="Arial"/>
              </a:defRPr>
            </a:pPr>
            <a:r>
              <a:t>Lovable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103120"/>
            <a:ext cx="21031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2240280"/>
            <a:ext cx="32004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22677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Pivot to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63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"Now let's work within</a:t>
            </a:r>
            <a:br/>
            <a:r>
              <a:t>your compliance &amp;</a:t>
            </a:r>
            <a:br/>
            <a:r>
              <a:t>security requirements"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103120"/>
            <a:ext cx="21031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6360" y="224028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2677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Copilot 365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063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Better prompting &amp;</a:t>
            </a:r>
            <a:br/>
            <a:r>
              <a:t>real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A5FA"/>
                </a:solidFill>
                <a:latin typeface="Arial"/>
              </a:defRPr>
            </a:pPr>
            <a:r>
              <a:t>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A5FA"/>
                </a:solidFill>
                <a:latin typeface="Arial"/>
              </a:defRPr>
            </a:pPr>
            <a:r>
              <a:t>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A5FA"/>
                </a:solidFill>
                <a:latin typeface="Arial"/>
              </a:defRPr>
            </a:pPr>
            <a:r>
              <a:t>PPT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2103120"/>
            <a:ext cx="21031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52360" y="2240280"/>
            <a:ext cx="32004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2677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Copilot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063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Build a Q&amp;A bot</a:t>
            </a:r>
            <a:br/>
            <a:r>
              <a:t>or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4D399"/>
                </a:solidFill>
                <a:latin typeface="Arial"/>
              </a:defRPr>
            </a:pPr>
            <a:r>
              <a:t>If licenses granted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103120"/>
            <a:ext cx="21031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38360" y="2240280"/>
            <a:ext cx="320040" cy="320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2677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Arial"/>
              </a:defRPr>
            </a:pPr>
            <a:r>
              <a:t>Workflow Mapping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063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Connect AI to actual</a:t>
            </a:r>
            <a:br/>
            <a:r>
              <a:t>painful workflows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B7185"/>
                </a:solidFill>
                <a:latin typeface="Arial"/>
              </a:defRPr>
            </a:pPr>
            <a:r>
              <a:t>WorkflowyOS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389120"/>
            <a:ext cx="54864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t>Pre-Assessment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• Current AI tools usage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39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• Workflow pain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• Automation readiness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39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• Role-specific skill gaps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389120"/>
            <a:ext cx="54864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Learning Progression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937760"/>
            <a:ext cx="1143000" cy="777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029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L1 Aware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4937760"/>
            <a:ext cx="1143000" cy="777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5029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L2 Fluent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20" y="4937760"/>
            <a:ext cx="11430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5029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L3 Builder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0" y="4937760"/>
            <a:ext cx="1143000" cy="777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280" y="5029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L4 Leader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The WorkflowyOS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The AI workflow optimization platform for enterprises. WorkflowyOS brings order to enterprise AI chaos.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8288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30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Leave-behind software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103120"/>
            <a:ext cx="18288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130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Integrated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103120"/>
            <a:ext cx="182880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30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Arial"/>
              </a:defRPr>
            </a:pPr>
            <a:r>
              <a:t>Ongoing engagement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45720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Prompt Coach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71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Learn to prompt better with guided AI coaching. Get real-time feedback as you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457200" cy="45720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Workflow 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Map and optimize your workflows with AI assistance. Understand where AI fits in your daily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457200" cy="457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Async Courses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Pre-recorded training modules for ongoing learning. Master prompting, Copilot, and workflow building at your own pace.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03120"/>
            <a:ext cx="5212080" cy="3657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W  Workflow Consultant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43200"/>
            <a:ext cx="484632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Match the speed of your ambition.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Instantly generate your workflow enhancement plan. Then collaborate with your team to keep it forever in motion.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023360"/>
            <a:ext cx="448056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What do you want to accomplish today?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Start with templates: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937760"/>
            <a:ext cx="82296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56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Arial"/>
              </a:defRPr>
            </a:pPr>
            <a:r>
              <a:t>Emailing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4937760"/>
            <a:ext cx="82296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956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Arial"/>
              </a:defRPr>
            </a:pPr>
            <a:r>
              <a:t>Coding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937760"/>
            <a:ext cx="82296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956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Arial"/>
              </a:defRPr>
            </a:pPr>
            <a:r>
              <a:t>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OUR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Enterprise experience meets AI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LEADERSHIP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566160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Nadim Nasser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15+ years designing learning experiences across 50+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Trained 1,000+ professionals through workshops and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783080"/>
            <a:ext cx="3566160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Azim Ahmed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Head of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2423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Head of Engineering at Lazer 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67919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5+ years leading product and engineering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783080"/>
            <a:ext cx="3566160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Drew Baillie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Head of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23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25+ years in enterprise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7919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Former KPMG AI and digital transformation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TRAINING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29000"/>
            <a:ext cx="3566160" cy="1143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Danish Dhamani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AI Agents &amp; Workflow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Co-founder AI Build Academy, CEO of Orai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No-code workflow automation specialist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429000"/>
            <a:ext cx="3566160" cy="1143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39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William Lancaster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3767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AI Solutions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4023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15+ years software development and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Enterprise integrations: Copilot, Gemini, Claude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429000"/>
            <a:ext cx="3566160" cy="1143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Mishaal Lakhani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767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AI Learning &amp; Enablement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023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1,000+ professionals trained in AI fluency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• Workflow extraction and process optimization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Advisory 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Rola Dagher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CEO advisor, Board Director, Investor.</a:t>
            </a:r>
            <a:br/>
            <a:r>
              <a:t>Former CEO Cisco Canada, Chief Channel Officer Dell Technologies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Armughan Ahmad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CEO advisor, Board Director, Investor.</a:t>
            </a:r>
            <a:br/>
            <a:r>
              <a:t>Former CEO / Executive at ServiceNow, KPMG, Dell, HP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Arif Bhanji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Co-Founder &amp; Co-CEO of Lazer Technologies,</a:t>
            </a:r>
            <a:br/>
            <a:r>
              <a:t>a Y Combinator-backed product studio. Former Deloitte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  <a:latin typeface="Arial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Unlock Real Value from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5661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2011680"/>
            <a:ext cx="54864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Time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On repetitive tasks like drafting,</a:t>
            </a:r>
            <a:br/>
            <a:r>
              <a:t>research, and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828800"/>
            <a:ext cx="35661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97879" y="201168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Adoption Increase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When training is provided vs.</a:t>
            </a:r>
            <a:br/>
            <a:r>
              <a:t>self service (BCG 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35661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6920" y="2011680"/>
            <a:ext cx="548640" cy="5486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84FC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New Licenses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Maximize ROI on Copilot licenses</a:t>
            </a:r>
            <a:br/>
            <a:r>
              <a:t>you already 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54864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What's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Pre-session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"Art of the Possible" demos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4-hour live intensive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Workflow mapping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Role-specific use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303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rial"/>
              </a:defRPr>
            </a:pPr>
            <a:r>
              <a:t>✓  Rollout blueprint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31920"/>
            <a:ext cx="50292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Flexible pricing based on team size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892040"/>
            <a:ext cx="137160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937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10 people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$30k USD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892040"/>
            <a:ext cx="137160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937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20 people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$50k USD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0" y="4892040"/>
            <a:ext cx="137160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4937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30 people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$60k USD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4D399"/>
                </a:solidFill>
                <a:latin typeface="Arial"/>
              </a:defRPr>
            </a:pPr>
            <a:r>
              <a:t>Leaders become AI champions who can cascade learning to their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2743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200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×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384048"/>
            <a:ext cx="109728" cy="10972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651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41148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Discovery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Understand your team's current AI adoption level and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011680"/>
            <a:ext cx="2651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194560"/>
            <a:ext cx="41148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Custom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Tailored curriculum based on team needs and success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651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2194560"/>
            <a:ext cx="41148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Schedule &amp;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Confirm participants, date, and distribute pre-session assessment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011680"/>
            <a:ext cx="2651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194560"/>
            <a:ext cx="41148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Deliver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Half-day intensive followed by reporting and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112471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Key Requirement for Hands-On 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To enable hands-on building exercises, we'll need temporary Copilot Studio licenses provisioned for participants. IT will need to request these licenses (typically restricted to engineering teams) for the duration of the session.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workflowy.ai/deloitte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